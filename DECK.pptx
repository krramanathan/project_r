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₹k / month</c:v>
                </c:pt>
              </c:strCache>
            </c:strRef>
          </c:tx>
          <c:spPr>
            <a:solidFill>
              <a:srgbClr val="F0C9A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C191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0C9A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5C2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3E6C0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Low (80%)</c:v>
                  </c:pt>
                  <c:pt idx="1">
                    <c:v>Central (100%)</c:v>
                  </c:pt>
                  <c:pt idx="2">
                    <c:v>High (120%)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69</c:v>
                </c:pt>
                <c:pt idx="1">
                  <c:v>86</c:v>
                </c:pt>
                <c:pt idx="2">
                  <c:v>103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1C191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C191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0"/>
          <c:min val="0"/>
        </c:scaling>
        <c:delete val="0"/>
        <c:axPos val="l"/>
        <c:majorGridlines>
          <c:spPr>
            <a:ln w="6350" cap="flat">
              <a:solidFill>
                <a:srgbClr val="E8D5C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7534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Completion rate (%)</c:v>
                </c:pt>
              </c:strCache>
            </c:strRef>
          </c:tx>
          <c:spPr>
            <a:solidFill>
              <a:srgbClr val="C45C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C191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5C2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6E4D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0C9A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6E4D4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Naive: got
campaign</c:v>
                  </c:pt>
                  <c:pt idx="1">
                    <c:v>Naive: never
got it</c:v>
                  </c:pt>
                  <c:pt idx="2">
                    <c:v>Honest: clicked</c:v>
                  </c:pt>
                  <c:pt idx="3">
                    <c:v>Honest:
not clicked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29</c:v>
                </c:pt>
                <c:pt idx="1">
                  <c:v>11</c:v>
                </c:pt>
                <c:pt idx="2">
                  <c:v>28.3</c:v>
                </c:pt>
                <c:pt idx="3">
                  <c:v>29.8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C191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C191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E8D5C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7534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 track: ~180, medium confidence (~134 RC + ~50 Insurance). 98.7% take a first trip.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.xml"/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194560"/>
            <a:ext cx="5852160" cy="5852160"/>
          </a:xfrm>
          <a:prstGeom prst="ellipse">
            <a:avLst/>
          </a:prstGeom>
          <a:solidFill>
            <a:srgbClr val="F6E4D4"/>
          </a:solidFill>
          <a:ln/>
        </p:spPr>
      </p:sp>
      <p:sp>
        <p:nvSpPr>
          <p:cNvPr id="3" name="Shape 1"/>
          <p:cNvSpPr/>
          <p:nvPr/>
        </p:nvSpPr>
        <p:spPr>
          <a:xfrm>
            <a:off x="-2377440" y="4206240"/>
            <a:ext cx="4754880" cy="4754880"/>
          </a:xfrm>
          <a:prstGeom prst="ellipse">
            <a:avLst/>
          </a:prstGeom>
          <a:solidFill>
            <a:srgbClr val="F8F1E3"/>
          </a:solidFill>
          <a:ln/>
        </p:spPr>
      </p:sp>
      <p:sp>
        <p:nvSpPr>
          <p:cNvPr id="4" name="Shape 2"/>
          <p:cNvSpPr/>
          <p:nvPr/>
        </p:nvSpPr>
        <p:spPr>
          <a:xfrm>
            <a:off x="9509760" y="4480560"/>
            <a:ext cx="3108960" cy="3108960"/>
          </a:xfrm>
          <a:prstGeom prst="ellipse">
            <a:avLst/>
          </a:prstGeom>
          <a:solidFill>
            <a:srgbClr val="F3E6C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051560"/>
            <a:ext cx="8686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20" kern="0" dirty="0">
                <a:solidFill>
                  <a:srgbClr val="C45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RAPIDO DATA SCIENCE ASSESSMENT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444752"/>
            <a:ext cx="8046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C19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Captain onboarding leak</a:t>
            </a:r>
            <a:endParaRPr lang="en-US" sz="34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C19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&amp; overnight airport supply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127248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extra ~180 approved captains a month come from, and why overnight airport supply is an economics problem, not a headcount one.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85800" y="4096512"/>
            <a:ext cx="2377440" cy="0"/>
          </a:xfrm>
          <a:prstGeom prst="line">
            <a:avLst/>
          </a:prstGeom>
          <a:noFill/>
          <a:ln w="31750">
            <a:solidFill>
              <a:srgbClr val="F0C9A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4261104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19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Ramanathan K R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4681728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September 2026  ·  Data extract as of 30 Jun 2026, 23:59 IST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549640" y="3127248"/>
            <a:ext cx="3200400" cy="3108960"/>
          </a:xfrm>
          <a:prstGeom prst="roundRect">
            <a:avLst>
              <a:gd name="adj" fmla="val 4706"/>
            </a:avLst>
          </a:prstGeom>
          <a:solidFill>
            <a:srgbClr val="F6E4D4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0" y="3218688"/>
            <a:ext cx="1417320" cy="1417320"/>
          </a:xfrm>
          <a:prstGeom prst="rect">
            <a:avLst/>
          </a:prstGeom>
        </p:spPr>
      </p:pic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3218688"/>
            <a:ext cx="1417320" cy="1417320"/>
          </a:xfrm>
          <a:prstGeom prst="rect">
            <a:avLst/>
          </a:prstGeom>
        </p:spPr>
      </p:pic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4709160"/>
            <a:ext cx="1417320" cy="1417320"/>
          </a:xfrm>
          <a:prstGeom prst="rect">
            <a:avLst/>
          </a:prstGeom>
        </p:spPr>
      </p:pic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4709160"/>
            <a:ext cx="1417320" cy="14173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80" kern="0" dirty="0">
                <a:solidFill>
                  <a:srgbClr val="C45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CAPTAIN ONBOARDING — THE HEADLINE</a:t>
            </a:r>
            <a:endParaRPr lang="en-US" sz="13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164592"/>
            <a:ext cx="868680" cy="868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621792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19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broken capture step costs ~180 captains/month.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28016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capture-quality fixes on RC and Insurance — not a mix of five things — recover ~180 additional approved captains/month at medium confidence.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02920" y="1920240"/>
            <a:ext cx="6903720" cy="402336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5875">
            <a:solidFill>
              <a:srgbClr val="E8D5C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2011680"/>
            <a:ext cx="6537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of the ~180  (disjoint C1a + C1b)</a:t>
            </a:r>
            <a:endParaRPr lang="en-US" sz="14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304288"/>
            <a:ext cx="6537960" cy="347472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7589520" y="1920240"/>
            <a:ext cx="4069080" cy="1261872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5875">
            <a:solidFill>
              <a:srgbClr val="E8D5C0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0" y="2048256"/>
            <a:ext cx="3703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19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98.7%</a:t>
            </a:r>
            <a:endParaRPr lang="en-US" sz="2800" dirty="0"/>
          </a:p>
        </p:txBody>
      </p:sp>
      <p:sp>
        <p:nvSpPr>
          <p:cNvPr id="11" name="Text 7"/>
          <p:cNvSpPr txBox="1"/>
          <p:nvPr/>
        </p:nvSpPr>
        <p:spPr>
          <a:xfrm>
            <a:off x="7772400" y="2578608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mature approved captains take a first trip (3,895 / 3,946). Documents are the bottleneck.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589520" y="3291840"/>
            <a:ext cx="4069080" cy="1261872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5875">
            <a:solidFill>
              <a:srgbClr val="E8D5C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772400" y="3419856"/>
            <a:ext cx="3703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19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~134 / mo</a:t>
            </a:r>
            <a:endParaRPr lang="en-US" sz="2800" dirty="0"/>
          </a:p>
        </p:txBody>
      </p:sp>
      <p:sp>
        <p:nvSpPr>
          <p:cNvPr id="14" name="Text 10"/>
          <p:cNvSpPr txBox="1"/>
          <p:nvPr/>
        </p:nvSpPr>
        <p:spPr>
          <a:xfrm>
            <a:off x="7772400" y="3950208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Recovered from an RC in-person grace window (C1a).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7589520" y="4663440"/>
            <a:ext cx="4069080" cy="1261872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5875">
            <a:solidFill>
              <a:srgbClr val="E8D5C0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772400" y="4791456"/>
            <a:ext cx="3703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19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~50 / mo</a:t>
            </a:r>
            <a:endParaRPr lang="en-US" sz="2800" dirty="0"/>
          </a:p>
        </p:txBody>
      </p:sp>
      <p:sp>
        <p:nvSpPr>
          <p:cNvPr id="17" name="Text 13"/>
          <p:cNvSpPr txBox="1"/>
          <p:nvPr/>
        </p:nvSpPr>
        <p:spPr>
          <a:xfrm>
            <a:off x="7772400" y="5321808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Recovered from Insurance guided capture UX (C1b).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F6E4D4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502920" y="647395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Rapido Supply  ·  Captain onboarding &amp; airport supply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6339535" y="6473952"/>
            <a:ext cx="5349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Ramanathan K R  ·  Rapido Data Science Assessment     1 / 6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80" kern="0" dirty="0">
                <a:solidFill>
                  <a:srgbClr val="C45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13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164592"/>
            <a:ext cx="868680" cy="868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621792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19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RC and Insurance are failing as photographs, not documents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20700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Capture-class failures (blur, weak OCR, illegibility) dominate RC and Insurance, and later attempts pass more often. That is a capture / UX problem, not an eligibility one.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02920" y="1847088"/>
            <a:ext cx="5486400" cy="3703320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5875">
            <a:solidFill>
              <a:srgbClr val="E8D5C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193852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 loss: only the photo slice is C1a</a:t>
            </a:r>
            <a:endParaRPr lang="en-US" sz="14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212848"/>
            <a:ext cx="5212080" cy="32004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172200" y="1847088"/>
            <a:ext cx="5532120" cy="3703320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5875">
            <a:solidFill>
              <a:srgbClr val="E8D5C0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355080" y="19385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Insurance leftovers — only 411 are C1b</a:t>
            </a:r>
            <a:endParaRPr lang="en-US" sz="14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2212848"/>
            <a:ext cx="5257800" cy="32004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502920" y="5650992"/>
            <a:ext cx="11201400" cy="713232"/>
          </a:xfrm>
          <a:prstGeom prst="roundRect">
            <a:avLst>
              <a:gd name="adj" fmla="val 12821"/>
            </a:avLst>
          </a:prstGeom>
          <a:solidFill>
            <a:srgbClr val="F3E6C0"/>
          </a:solidFill>
          <a:ln w="15875">
            <a:solidFill>
              <a:srgbClr val="E8D5C0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85800" y="5650992"/>
            <a:ext cx="10835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1,637 RC and 411 Insurance captains are capture-only fails — isolated from eligibility (expired, duplicate, wrong type). DL (1,166) is 100% uploaded-fail and cannot be deferred.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F6E4D4"/>
          </a:solidFill>
          <a:ln/>
        </p:spPr>
      </p:sp>
      <p:sp>
        <p:nvSpPr>
          <p:cNvPr id="15" name="Text 10"/>
          <p:cNvSpPr txBox="1"/>
          <p:nvPr/>
        </p:nvSpPr>
        <p:spPr>
          <a:xfrm>
            <a:off x="502920" y="647395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Rapido Supply  ·  Captain onboarding &amp; airport supply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6339535" y="6473952"/>
            <a:ext cx="5349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Ramanathan K R  ·  Rapido Data Science Assessment     2 / 6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80" kern="0" dirty="0">
                <a:solidFill>
                  <a:srgbClr val="C45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</a:t>
            </a:r>
            <a:endParaRPr lang="en-US" sz="13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164592"/>
            <a:ext cx="868680" cy="868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621792"/>
            <a:ext cx="10332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19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recommendation, two sub-actions — RC defers, Insurance doesn’t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457200" y="1280160"/>
            <a:ext cx="5532120" cy="4709160"/>
          </a:xfrm>
          <a:prstGeom prst="roundRect">
            <a:avLst>
              <a:gd name="adj" fmla="val 1942"/>
            </a:avLst>
          </a:prstGeom>
          <a:solidFill>
            <a:srgbClr val="FFFFFF"/>
          </a:solidFill>
          <a:ln w="15875">
            <a:solidFill>
              <a:srgbClr val="E8D5C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13232" y="1444752"/>
            <a:ext cx="1965960" cy="365760"/>
          </a:xfrm>
          <a:prstGeom prst="roundRect">
            <a:avLst>
              <a:gd name="adj" fmla="val 50000"/>
            </a:avLst>
          </a:prstGeom>
          <a:solidFill>
            <a:srgbClr val="F3E6C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13232" y="144475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C1a — RC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13232" y="1901952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9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Provisional activation · 10-day in-person grace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13232" y="2606040"/>
            <a:ext cx="5029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4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1,637 RC capture-only fails (~300/mo)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13232" y="3099816"/>
            <a:ext cx="5029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 </a:t>
            </a:r>
            <a:pPr indent="0" marL="0">
              <a:buNone/>
            </a:pPr>
            <a:r>
              <a:rPr lang="en-US" sz="14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identity — no passenger-liability exposure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13232" y="3593592"/>
            <a:ext cx="5029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Show-up  </a:t>
            </a:r>
            <a:pPr indent="0" marL="0">
              <a:buNone/>
            </a:pPr>
            <a:r>
              <a:rPr lang="en-US" sz="14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/ 60 / 80% × 74–78% pass rate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13232" y="4087368"/>
            <a:ext cx="5029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 </a:t>
            </a:r>
            <a:pPr indent="0" marL="0">
              <a:buNone/>
            </a:pPr>
            <a:r>
              <a:rPr lang="en-US" sz="14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~134/month additional approved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713232" y="4581144"/>
            <a:ext cx="5029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 </a:t>
            </a:r>
            <a:pPr indent="0" marL="0">
              <a:buNone/>
            </a:pPr>
            <a:r>
              <a:rPr lang="en-US" sz="14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+ Trust &amp; Safety sign-off on deferral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21792" y="5440680"/>
            <a:ext cx="5212080" cy="438912"/>
          </a:xfrm>
          <a:prstGeom prst="roundRect">
            <a:avLst>
              <a:gd name="adj" fmla="val 12500"/>
            </a:avLst>
          </a:prstGeom>
          <a:solidFill>
            <a:srgbClr val="F8F1E3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13232" y="5440680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remaining docs still bind: ~36/month (Legal ask).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199632" y="1280160"/>
            <a:ext cx="5532120" cy="4709160"/>
          </a:xfrm>
          <a:prstGeom prst="roundRect">
            <a:avLst>
              <a:gd name="adj" fmla="val 1942"/>
            </a:avLst>
          </a:prstGeom>
          <a:solidFill>
            <a:srgbClr val="FFFFFF"/>
          </a:solidFill>
          <a:ln w="15875">
            <a:solidFill>
              <a:srgbClr val="E8D5C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455664" y="1444752"/>
            <a:ext cx="1965960" cy="365760"/>
          </a:xfrm>
          <a:prstGeom prst="roundRect">
            <a:avLst>
              <a:gd name="adj" fmla="val 50000"/>
            </a:avLst>
          </a:prstGeom>
          <a:solidFill>
            <a:srgbClr val="F3E6C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455664" y="144475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C1b — Insurance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6455664" y="1901952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9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Guided capture UX — no deferral possible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6455664" y="2606040"/>
            <a:ext cx="5029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4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411 Insurance capture-only fails (~75/mo)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455664" y="3099816"/>
            <a:ext cx="5029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not  </a:t>
            </a:r>
            <a:pPr indent="0" marL="0">
              <a:buNone/>
            </a:pPr>
            <a:r>
              <a:rPr lang="en-US" sz="14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Liability document — must clear before first ride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6455664" y="3593592"/>
            <a:ext cx="5029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 </a:t>
            </a:r>
            <a:pPr indent="0" marL="0">
              <a:buNone/>
            </a:pPr>
            <a:r>
              <a:rPr lang="en-US" sz="14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67.4% → 73.8% → 76.4% pass on own retry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6455664" y="4087368"/>
            <a:ext cx="5029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 </a:t>
            </a:r>
            <a:pPr indent="0" marL="0">
              <a:buNone/>
            </a:pPr>
            <a:r>
              <a:rPr lang="en-US" sz="14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~46–52/month additional approved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6455664" y="4581144"/>
            <a:ext cx="5029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 </a:t>
            </a:r>
            <a:pPr indent="0" marL="0">
              <a:buNone/>
            </a:pPr>
            <a:r>
              <a:rPr lang="en-US" sz="14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UX only — no sign-off required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6364224" y="5440680"/>
            <a:ext cx="5212080" cy="438912"/>
          </a:xfrm>
          <a:prstGeom prst="roundRect">
            <a:avLst>
              <a:gd name="adj" fmla="val 12500"/>
            </a:avLst>
          </a:prstGeom>
          <a:solidFill>
            <a:srgbClr val="F8F1E3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455664" y="5440680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C1b this week. Start Legal on C1a in parallel.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F6E4D4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502920" y="647395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Rapido Supply  ·  Captain onboarding &amp; airport supply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6339535" y="6473952"/>
            <a:ext cx="5349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Ramanathan K R  ·  Rapido Data Science Assessment     3 / 6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80" kern="0" dirty="0">
                <a:solidFill>
                  <a:srgbClr val="C45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AIRPORT SUPPLY</a:t>
            </a:r>
            <a:endParaRPr lang="en-US" sz="13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164592"/>
            <a:ext cx="868680" cy="868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621792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19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Overnight airport is compounding economics, not a headcount problem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02920" y="1298448"/>
            <a:ext cx="5486400" cy="3246120"/>
          </a:xfrm>
          <a:prstGeom prst="roundRect">
            <a:avLst>
              <a:gd name="adj" fmla="val 2817"/>
            </a:avLst>
          </a:prstGeom>
          <a:solidFill>
            <a:srgbClr val="FFFFFF"/>
          </a:solidFill>
          <a:ln w="15875">
            <a:solidFill>
              <a:srgbClr val="E8D5C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37160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pain sits (unfulfilled volume)</a:t>
            </a:r>
            <a:endParaRPr lang="en-US" sz="14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64208"/>
            <a:ext cx="5212080" cy="27889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172200" y="1298448"/>
            <a:ext cx="5532120" cy="3246120"/>
          </a:xfrm>
          <a:prstGeom prst="roundRect">
            <a:avLst>
              <a:gd name="adj" fmla="val 2817"/>
            </a:avLst>
          </a:prstGeom>
          <a:solidFill>
            <a:srgbClr val="FFFFFF"/>
          </a:solidFill>
          <a:ln w="15875">
            <a:solidFill>
              <a:srgbClr val="E8D5C0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355080" y="13716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 monthly payout (₹k/month) at ₹35.4/leg</a:t>
            </a:r>
            <a:endParaRPr lang="en-US" sz="14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6263640" y="1664208"/>
          <a:ext cx="5303520" cy="2788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Shape 6"/>
          <p:cNvSpPr/>
          <p:nvPr/>
        </p:nvSpPr>
        <p:spPr>
          <a:xfrm>
            <a:off x="502920" y="4663440"/>
            <a:ext cx="3611880" cy="1280160"/>
          </a:xfrm>
          <a:prstGeom prst="roundRect">
            <a:avLst>
              <a:gd name="adj" fmla="val 7143"/>
            </a:avLst>
          </a:prstGeom>
          <a:solidFill>
            <a:srgbClr val="F6E4D4"/>
          </a:solidFill>
          <a:ln w="15875">
            <a:solidFill>
              <a:srgbClr val="E8D5C0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667512" y="473659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19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40%</a:t>
            </a:r>
            <a:endParaRPr lang="en-US" sz="2600" dirty="0"/>
          </a:p>
        </p:txBody>
      </p:sp>
      <p:sp>
        <p:nvSpPr>
          <p:cNvPr id="13" name="Text 8"/>
          <p:cNvSpPr txBox="1"/>
          <p:nvPr/>
        </p:nvSpPr>
        <p:spPr>
          <a:xfrm>
            <a:off x="667512" y="5193792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Airport demand unfulfilled vs ~3% elsewhere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251960" y="4663440"/>
            <a:ext cx="3611880" cy="1280160"/>
          </a:xfrm>
          <a:prstGeom prst="roundRect">
            <a:avLst>
              <a:gd name="adj" fmla="val 7143"/>
            </a:avLst>
          </a:prstGeom>
          <a:solidFill>
            <a:srgbClr val="F3E6C0"/>
          </a:solidFill>
          <a:ln w="15875">
            <a:solidFill>
              <a:srgbClr val="E8D5C0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4416552" y="473659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19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84%</a:t>
            </a:r>
            <a:endParaRPr lang="en-US" sz="2600" dirty="0"/>
          </a:p>
        </p:txBody>
      </p:sp>
      <p:sp>
        <p:nvSpPr>
          <p:cNvPr id="16" name="Text 11"/>
          <p:cNvSpPr txBox="1"/>
          <p:nvPr/>
        </p:nvSpPr>
        <p:spPr>
          <a:xfrm>
            <a:off x="4416552" y="5193792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night gap sits in 21:00–03:59 — ~13 captains vs ~37 by day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8001000" y="4663440"/>
            <a:ext cx="3611880" cy="1280160"/>
          </a:xfrm>
          <a:prstGeom prst="roundRect">
            <a:avLst>
              <a:gd name="adj" fmla="val 7143"/>
            </a:avLst>
          </a:prstGeom>
          <a:solidFill>
            <a:srgbClr val="F6E4D4"/>
          </a:solidFill>
          <a:ln w="15875">
            <a:solidFill>
              <a:srgbClr val="E8D5C0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165592" y="473659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19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₹35.4</a:t>
            </a:r>
            <a:endParaRPr lang="en-US" sz="2600" dirty="0"/>
          </a:p>
        </p:txBody>
      </p:sp>
      <p:sp>
        <p:nvSpPr>
          <p:cNvPr id="19" name="Text 14"/>
          <p:cNvSpPr txBox="1"/>
          <p:nvPr/>
        </p:nvSpPr>
        <p:spPr>
          <a:xfrm>
            <a:off x="8165592" y="5193792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eligible leg — derived ARA. Not 30% of fare (₹105).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F6E4D4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502920" y="647395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Rapido Supply  ·  Captain onboarding &amp; airport supply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6339535" y="6473952"/>
            <a:ext cx="5349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Ramanathan K R  ·  Rapido Data Science Assessment     4 / 6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80" kern="0" dirty="0">
                <a:solidFill>
                  <a:srgbClr val="C45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NOT WORK — AND HOW EASY IT IS TO BE FOOLED</a:t>
            </a:r>
            <a:endParaRPr lang="en-US" sz="13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164592"/>
            <a:ext cx="868680" cy="868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621792"/>
            <a:ext cx="10332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19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campaign with 0 pp lift, and a gap we must not bank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502920" y="1207008"/>
            <a:ext cx="5532120" cy="4315968"/>
          </a:xfrm>
          <a:prstGeom prst="roundRect">
            <a:avLst>
              <a:gd name="adj" fmla="val 2119"/>
            </a:avLst>
          </a:prstGeom>
          <a:solidFill>
            <a:srgbClr val="FFFFFF"/>
          </a:solidFill>
          <a:ln w="15875">
            <a:solidFill>
              <a:srgbClr val="E8D5C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298448"/>
            <a:ext cx="5166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9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CAMP_WA_002 — WhatsApp campaign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645920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29% vs 11% headline is targeting, not effect.</a:t>
            </a:r>
            <a:endParaRPr lang="en-US" sz="14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94360" y="1938528"/>
          <a:ext cx="5303520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85800" y="4315968"/>
            <a:ext cx="5166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comparison: clicked vs not-clicked (delivered only) = −1.5 pp; 95% CI [−3.6, +0.6]. That is 0 pp lift. Do not fund 5×.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685800" y="4956048"/>
            <a:ext cx="5166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~30% of recipients also got another campaign — confounding further inflated.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6199632" y="1207008"/>
            <a:ext cx="5532120" cy="4315968"/>
          </a:xfrm>
          <a:prstGeom prst="roundRect">
            <a:avLst>
              <a:gd name="adj" fmla="val 2119"/>
            </a:avLst>
          </a:prstGeom>
          <a:solidFill>
            <a:srgbClr val="FFFFFF"/>
          </a:solidFill>
          <a:ln w="15875">
            <a:solidFill>
              <a:srgbClr val="E8D5C0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382512" y="1298448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9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Field vs self-serve — do not double-count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6400800" y="1847088"/>
            <a:ext cx="128016" cy="128016"/>
          </a:xfrm>
          <a:prstGeom prst="ellipse">
            <a:avLst/>
          </a:prstGeom>
          <a:solidFill>
            <a:srgbClr val="F0C9A0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656832" y="1755648"/>
            <a:ext cx="4892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Mechanical ceiling if app/paid converted like field: 128–256 additional/month.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400800" y="2560320"/>
            <a:ext cx="128016" cy="128016"/>
          </a:xfrm>
          <a:prstGeom prst="ellipse">
            <a:avLst/>
          </a:prstGeom>
          <a:solidFill>
            <a:srgbClr val="F0C9A0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6656832" y="2468880"/>
            <a:ext cx="4892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teams recruit in person — extract cannot separate who they recruit from how they onboard.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6400800" y="3273552"/>
            <a:ext cx="128016" cy="128016"/>
          </a:xfrm>
          <a:prstGeom prst="ellipse">
            <a:avLst/>
          </a:prstGeom>
          <a:solidFill>
            <a:srgbClr val="F0C9A0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6656832" y="3182112"/>
            <a:ext cx="4892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726 of the C1a RC group are the same self-serve captains this gap already counts. Do not add 180 + 128–256.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6400800" y="3986784"/>
            <a:ext cx="128016" cy="128016"/>
          </a:xfrm>
          <a:prstGeom prst="ellipse">
            <a:avLst/>
          </a:prstGeom>
          <a:solidFill>
            <a:srgbClr val="F0C9A0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6656832" y="3895344"/>
            <a:ext cx="4892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Fos abandonment after Fitness: 26% vs paid 43% — in-person assist, not WhatsApp.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6400800" y="4700016"/>
            <a:ext cx="128016" cy="128016"/>
          </a:xfrm>
          <a:prstGeom prst="ellipse">
            <a:avLst/>
          </a:prstGeom>
          <a:solidFill>
            <a:srgbClr val="F0C9A0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6656832" y="4608576"/>
            <a:ext cx="4892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move: randomised assisted-onboarding pilot on app/paid (~900 per arm to detect a 5 pp lift).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F6E4D4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502920" y="647395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Rapido Supply  ·  Captain onboarding &amp; airport supply</a:t>
            </a:r>
            <a:endParaRPr lang="en-US" sz="1100" dirty="0"/>
          </a:p>
        </p:txBody>
      </p:sp>
      <p:sp>
        <p:nvSpPr>
          <p:cNvPr id="25" name="Text 21"/>
          <p:cNvSpPr txBox="1"/>
          <p:nvPr/>
        </p:nvSpPr>
        <p:spPr>
          <a:xfrm>
            <a:off x="6339535" y="6473952"/>
            <a:ext cx="5349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Ramanathan K R  ·  Rapido Data Science Assessment     5 / 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80" kern="0" dirty="0">
                <a:solidFill>
                  <a:srgbClr val="C45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 &amp; DECISION POINTS</a:t>
            </a:r>
            <a:endParaRPr lang="en-US" sz="13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164592"/>
            <a:ext cx="868680" cy="868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621792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19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Ranked by monthly impact. The campaign call is the fastest yes.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1965960" y="1170432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C45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989320" y="1170432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C45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IMPACT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321040" y="117043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C45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/ RISK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02920" y="1444752"/>
            <a:ext cx="11201400" cy="1078992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15875">
            <a:solidFill>
              <a:srgbClr val="E8D5C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13232" y="1755648"/>
            <a:ext cx="457200" cy="457200"/>
          </a:xfrm>
          <a:prstGeom prst="ellipse">
            <a:avLst/>
          </a:prstGeom>
          <a:solidFill>
            <a:srgbClr val="F0C9A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13232" y="1755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C19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371600" y="1536192"/>
            <a:ext cx="4434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C1a: 10-day RC in-person grace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C1b: Insurance upload UX (ship this week)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943600" y="1536192"/>
            <a:ext cx="22860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~180/mo approved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321040" y="1536192"/>
            <a:ext cx="31546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C1a: Legal + T&amp;S. C1b: engineering only.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02920" y="2596896"/>
            <a:ext cx="11201400" cy="1078992"/>
          </a:xfrm>
          <a:prstGeom prst="roundRect">
            <a:avLst>
              <a:gd name="adj" fmla="val 8475"/>
            </a:avLst>
          </a:prstGeom>
          <a:solidFill>
            <a:srgbClr val="F8F1E3"/>
          </a:solidFill>
          <a:ln w="15875">
            <a:solidFill>
              <a:srgbClr val="E8D5C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13232" y="2907792"/>
            <a:ext cx="457200" cy="457200"/>
          </a:xfrm>
          <a:prstGeom prst="ellipse">
            <a:avLst/>
          </a:prstGeom>
          <a:solidFill>
            <a:srgbClr val="F0C9A0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13232" y="2907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C19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1371600" y="2688336"/>
            <a:ext cx="4434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Airport Return Assurance at ₹35.4/leg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(derived payout — not 30% of fare)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5943600" y="2688336"/>
            <a:ext cx="22860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₹69k–103k/mo sample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321040" y="2688336"/>
            <a:ext cx="31546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Sampled trips ≠ city P&amp;L. Rest-suburban only.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502920" y="3749040"/>
            <a:ext cx="11201400" cy="1078992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15875">
            <a:solidFill>
              <a:srgbClr val="E8D5C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13232" y="4059936"/>
            <a:ext cx="457200" cy="457200"/>
          </a:xfrm>
          <a:prstGeom prst="ellipse">
            <a:avLst/>
          </a:prstGeom>
          <a:solidFill>
            <a:srgbClr val="F0C9A0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13232" y="4059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C19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371600" y="3840480"/>
            <a:ext cx="4434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CAMP_WA_002 5× scaling. Send/no-send RCT on RC-cleared self-serve captains.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5943600" y="3840480"/>
            <a:ext cx="22860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avoided + 4–6 week answer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321040" y="3840480"/>
            <a:ext cx="31546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 zero — a redirection, not new spend.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02920" y="4956048"/>
            <a:ext cx="11201400" cy="1024128"/>
          </a:xfrm>
          <a:prstGeom prst="roundRect">
            <a:avLst>
              <a:gd name="adj" fmla="val 8929"/>
            </a:avLst>
          </a:prstGeom>
          <a:solidFill>
            <a:srgbClr val="F3E6C0"/>
          </a:solidFill>
          <a:ln w="15875">
            <a:solidFill>
              <a:srgbClr val="E8D5C0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85800" y="4956048"/>
            <a:ext cx="108356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of the room   (1) Ship Insurance capture UX — no need to wait.   (2) Legal scoping on RC deferral, this week.   (3) Kill the 5× WhatsApp paper; stand up the RCT.   (4) Four-week ARA pilot at the derived ₹35.4, not 30% of fare.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F6E4D4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02920" y="647395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Rapido Supply  ·  Captain onboarding &amp; airport supply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339535" y="6473952"/>
            <a:ext cx="5349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Ramanathan K R  ·  Rapido Data Science Assessment     6 / 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2026-09-10T19:03:57Z</dcterms:created>
  <dcterms:modified xsi:type="dcterms:W3CDTF">2026-09-10T19:03:57Z</dcterms:modified>
</cp:coreProperties>
</file>