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Captain Recovery Estimate (/month)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7AE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7AE6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Baseline
Approved</c:v>
                  </c:pt>
                  <c:pt idx="1">
                    <c:v>RC Grace
Window (+)</c:v>
                  </c:pt>
                  <c:pt idx="2">
                    <c:v>Insurance
UX (+)</c:v>
                  </c:pt>
                  <c:pt idx="3">
                    <c:v>New
Total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3946</c:v>
                </c:pt>
                <c:pt idx="1">
                  <c:v>134</c:v>
                </c:pt>
                <c:pt idx="2">
                  <c:v>50</c:v>
                </c:pt>
                <c:pt idx="3">
                  <c:v>4130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Approved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RC</c:v>
                  </c:pt>
                  <c:pt idx="1">
                    <c:v>Insurance</c:v>
                  </c:pt>
                  <c:pt idx="2">
                    <c:v>DL</c:v>
                  </c:pt>
                  <c:pt idx="3">
                    <c:v>Aadhaar</c:v>
                  </c:pt>
                  <c:pt idx="4">
                    <c:v>Permit</c:v>
                  </c:pt>
                  <c:pt idx="5">
                    <c:v>Fitness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3946</c:v>
                </c:pt>
                <c:pt idx="1">
                  <c:v>3289</c:v>
                </c:pt>
                <c:pt idx="2">
                  <c:v>2283</c:v>
                </c:pt>
                <c:pt idx="3">
                  <c:v>2045</c:v>
                </c:pt>
                <c:pt idx="4">
                  <c:v>1428</c:v>
                </c:pt>
                <c:pt idx="5">
                  <c:v>775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Lost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RC</c:v>
                  </c:pt>
                  <c:pt idx="1">
                    <c:v>Insurance</c:v>
                  </c:pt>
                  <c:pt idx="2">
                    <c:v>DL</c:v>
                  </c:pt>
                  <c:pt idx="3">
                    <c:v>Aadhaar</c:v>
                  </c:pt>
                  <c:pt idx="4">
                    <c:v>Permit</c:v>
                  </c:pt>
                  <c:pt idx="5">
                    <c:v>Fitness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5405</c:v>
                </c:pt>
                <c:pt idx="1">
                  <c:v>3289</c:v>
                </c:pt>
                <c:pt idx="2">
                  <c:v>1166</c:v>
                </c:pt>
                <c:pt idx="3">
                  <c:v>1540</c:v>
                </c:pt>
                <c:pt idx="4">
                  <c:v>2616</c:v>
                </c:pt>
                <c:pt idx="5">
                  <c:v>2653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4444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RC Pass Rate (%)</c:v>
                </c:pt>
              </c:strCache>
            </c:strRef>
          </c:tx>
          <c:spPr>
            <a:solidFill>
              <a:srgbClr val="F96167"/>
            </a:solidFill>
            <a:ln w="31750" cap="flat">
              <a:solidFill>
                <a:srgbClr val="F9616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96167"/>
              </a:solidFill>
              <a:ln w="9525" cap="flat">
                <a:solidFill>
                  <a:srgbClr val="F9616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1st try</c:v>
                  </c:pt>
                  <c:pt idx="1">
                    <c:v>2nd try</c:v>
                  </c:pt>
                  <c:pt idx="2">
                    <c:v>3rd try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65.3</c:v>
                </c:pt>
                <c:pt idx="1">
                  <c:v>68.4</c:v>
                </c:pt>
                <c:pt idx="2">
                  <c:v>74.1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Insurance Pass Rate (%)</c:v>
                </c:pt>
              </c:strCache>
            </c:strRef>
          </c:tx>
          <c:spPr>
            <a:solidFill>
              <a:srgbClr val="1C7293"/>
            </a:solidFill>
            <a:ln w="3175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1st try</c:v>
                  </c:pt>
                  <c:pt idx="1">
                    <c:v>2nd try</c:v>
                  </c:pt>
                  <c:pt idx="2">
                    <c:v>3rd try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67</c:v>
                </c:pt>
                <c:pt idx="1">
                  <c:v>74</c:v>
                </c:pt>
                <c:pt idx="2">
                  <c:v>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  <c:min val="55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4444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Captains Online</c:v>
                </c:pt>
              </c:strCache>
            </c:strRef>
          </c:tx>
          <c:spPr>
            <a:solidFill>
              <a:srgbClr val="FFC400"/>
            </a:solidFill>
            <a:ln w="31750" cap="flat">
              <a:solidFill>
                <a:srgbClr val="FFC4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C400"/>
              </a:solidFill>
              <a:ln w="9525" cap="flat">
                <a:solidFill>
                  <a:srgbClr val="FFC4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18</c:v>
                  </c:pt>
                  <c:pt idx="1">
                    <c:v>19</c:v>
                  </c:pt>
                  <c:pt idx="2">
                    <c:v>20</c:v>
                  </c:pt>
                  <c:pt idx="3">
                    <c:v>21</c:v>
                  </c:pt>
                  <c:pt idx="4">
                    <c:v>22</c:v>
                  </c:pt>
                  <c:pt idx="5">
                    <c:v>23</c:v>
                  </c:pt>
                  <c:pt idx="6">
                    <c:v>00</c:v>
                  </c:pt>
                  <c:pt idx="7">
                    <c:v>01</c:v>
                  </c:pt>
                  <c:pt idx="8">
                    <c:v>02</c:v>
                  </c:pt>
                  <c:pt idx="9">
                    <c:v>03</c:v>
                  </c:pt>
                  <c:pt idx="10">
                    <c:v>04</c:v>
                  </c:pt>
                  <c:pt idx="11">
                    <c:v>05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37</c:v>
                </c:pt>
                <c:pt idx="1">
                  <c:v>34</c:v>
                </c:pt>
                <c:pt idx="2">
                  <c:v>28</c:v>
                </c:pt>
                <c:pt idx="3">
                  <c:v>18</c:v>
                </c:pt>
                <c:pt idx="4">
                  <c:v>14</c:v>
                </c:pt>
                <c:pt idx="5">
                  <c:v>13</c:v>
                </c:pt>
                <c:pt idx="6">
                  <c:v>13</c:v>
                </c:pt>
                <c:pt idx="7">
                  <c:v>12</c:v>
                </c:pt>
                <c:pt idx="8">
                  <c:v>11</c:v>
                </c:pt>
                <c:pt idx="9">
                  <c:v>13</c:v>
                </c:pt>
                <c:pt idx="10">
                  <c:v>18</c:v>
                </c:pt>
                <c:pt idx="11">
                  <c:v>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Demand Index</c:v>
                </c:pt>
              </c:strCache>
            </c:strRef>
          </c:tx>
          <c:spPr>
            <a:solidFill>
              <a:srgbClr val="F96167"/>
            </a:solidFill>
            <a:ln w="31750" cap="flat">
              <a:solidFill>
                <a:srgbClr val="F9616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96167"/>
              </a:solidFill>
              <a:ln w="9525" cap="flat">
                <a:solidFill>
                  <a:srgbClr val="F9616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18</c:v>
                  </c:pt>
                  <c:pt idx="1">
                    <c:v>19</c:v>
                  </c:pt>
                  <c:pt idx="2">
                    <c:v>20</c:v>
                  </c:pt>
                  <c:pt idx="3">
                    <c:v>21</c:v>
                  </c:pt>
                  <c:pt idx="4">
                    <c:v>22</c:v>
                  </c:pt>
                  <c:pt idx="5">
                    <c:v>23</c:v>
                  </c:pt>
                  <c:pt idx="6">
                    <c:v>00</c:v>
                  </c:pt>
                  <c:pt idx="7">
                    <c:v>01</c:v>
                  </c:pt>
                  <c:pt idx="8">
                    <c:v>02</c:v>
                  </c:pt>
                  <c:pt idx="9">
                    <c:v>03</c:v>
                  </c:pt>
                  <c:pt idx="10">
                    <c:v>04</c:v>
                  </c:pt>
                  <c:pt idx="11">
                    <c:v>05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45</c:v>
                </c:pt>
                <c:pt idx="1">
                  <c:v>50</c:v>
                </c:pt>
                <c:pt idx="2">
                  <c:v>55</c:v>
                </c:pt>
                <c:pt idx="3">
                  <c:v>70</c:v>
                </c:pt>
                <c:pt idx="4">
                  <c:v>75</c:v>
                </c:pt>
                <c:pt idx="5">
                  <c:v>72</c:v>
                </c:pt>
                <c:pt idx="6">
                  <c:v>65</c:v>
                </c:pt>
                <c:pt idx="7">
                  <c:v>60</c:v>
                </c:pt>
                <c:pt idx="8">
                  <c:v>55</c:v>
                </c:pt>
                <c:pt idx="9">
                  <c:v>50</c:v>
                </c:pt>
                <c:pt idx="10">
                  <c:v>40</c:v>
                </c:pt>
                <c:pt idx="11">
                  <c:v>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4444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₹/leg payout scenario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Low
(80%)</c:v>
                  </c:pt>
                  <c:pt idx="1">
                    <c:v>Central
(100%)</c:v>
                  </c:pt>
                  <c:pt idx="2">
                    <c:v>High
(120%)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69</c:v>
                </c:pt>
                <c:pt idx="1">
                  <c:v>86</c:v>
                </c:pt>
                <c:pt idx="2">
                  <c:v>103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  <c:min val="0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Completion Rate (%)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A8F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8FA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Naive: got
campaign</c:v>
                  </c:pt>
                  <c:pt idx="1">
                    <c:v>Naive: never
got it</c:v>
                  </c:pt>
                  <c:pt idx="2">
                    <c:v>Honest: clicked</c:v>
                  </c:pt>
                  <c:pt idx="3">
                    <c:v>Honest:
not clicked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</c:v>
                </c:pt>
                <c:pt idx="1">
                  <c:v>11</c:v>
                </c:pt>
                <c:pt idx="2">
                  <c:v>28.3</c:v>
                </c:pt>
                <c:pt idx="3">
                  <c:v>29.8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 (2 min): ~180, medium confidence (~134 RC + ~50 Insurance). These are not hollow approvals — 98.7% of approved captains take a first trip. Documents are the bottleneck.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RC and Insurance failures are photos/OCR. Retry pass rates rise each attempt — that is the capture signature. Other stages are real loss, different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C1b this week — no Legal needed. C1a needs Legal. If remaining docs bind after RC, C1a shrinks toward ~36/month — that is the question to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Airport: the answer is ARA, not headcount. Two independent penalties — suburban backhaul and overnight return collapse. Mix does not shift after dark. New hires inherit both penalties.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Trap: 29% vs 11% is targeting, not lift. Honest contrast = 0pp. 128–256 field gap overlaps 726 of the C1a captains. Do not add these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C1b → Legal C1a → 4-week ARA → kill 5×. Queue: other-doc camera, then assisted-onboarding RCT.
If interrupted twice: show slides 1, 4, and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828800"/>
            <a:ext cx="5486400" cy="5486400"/>
          </a:xfrm>
          <a:prstGeom prst="ellipse">
            <a:avLst/>
          </a:prstGeom>
          <a:solidFill>
            <a:srgbClr val="1A2255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389120"/>
            <a:ext cx="4572000" cy="4572000"/>
          </a:xfrm>
          <a:prstGeom prst="ellipse">
            <a:avLst/>
          </a:prstGeom>
          <a:solidFill>
            <a:srgbClr val="1A2255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0" y="3200400"/>
            <a:ext cx="2286000" cy="2286000"/>
          </a:xfrm>
          <a:prstGeom prst="ellipse">
            <a:avLst/>
          </a:prstGeom>
          <a:solidFill>
            <a:srgbClr val="1D2A6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32588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300" kern="0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DATA SCIENCE ASSESSMENT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1907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Captain onboarding leak</a:t>
            </a:r>
            <a:endParaRPr lang="en-US" sz="36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overnight airport supply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and recommendations for the Head of Supply — where the extra ~180 approved captains a month come from, and why overnight airport supply is an economics problem, not a headcount one.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4206240"/>
            <a:ext cx="2743200" cy="0"/>
          </a:xfrm>
          <a:prstGeom prst="line">
            <a:avLst/>
          </a:prstGeom>
          <a:noFill/>
          <a:ln w="31750">
            <a:solidFill>
              <a:srgbClr val="FFC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370832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Ramanathan K 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82803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Assessment  ·  10 September 2026  ·  Data extract as of 30 Jun 2026, 23:59 IST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5632704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25k signups  ·  RC  ·  Insurance  ·  Airport nights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ONBOARDING — THE HEADLINE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broken capture step costs ~180 captains/month.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capture-quality fixes on RC and Insurance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not a mix of five things — recover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 additional approved captains/month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medium confidence.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10312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captain recovery by fix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94360" y="2359152"/>
          <a:ext cx="66751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589520" y="2011680"/>
            <a:ext cx="4069080" cy="123444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26680" y="2121408"/>
            <a:ext cx="379476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98.7%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2653589"/>
            <a:ext cx="37947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mature approved captains take a first trip (3,895 / 3,946) — documents are the bottleneck, not first-order.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589520" y="3364992"/>
            <a:ext cx="4069080" cy="1078992"/>
          </a:xfrm>
          <a:prstGeom prst="roundRect">
            <a:avLst>
              <a:gd name="adj" fmla="val 7627"/>
            </a:avLst>
          </a:prstGeom>
          <a:solidFill>
            <a:srgbClr val="1E276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26680" y="3474720"/>
            <a:ext cx="3794760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C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~134/mo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7726680" y="3926068"/>
            <a:ext cx="3794760" cy="474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from an RC in-person grace window (C1a)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589520" y="4553712"/>
            <a:ext cx="4069080" cy="1078992"/>
          </a:xfrm>
          <a:prstGeom prst="roundRect">
            <a:avLst>
              <a:gd name="adj" fmla="val 7627"/>
            </a:avLst>
          </a:prstGeom>
          <a:solidFill>
            <a:srgbClr val="1E276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26680" y="4663440"/>
            <a:ext cx="3794760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~50/mo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726680" y="5114788"/>
            <a:ext cx="3794760" cy="474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from Insurance guided capture UX fix (C1b)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1 / 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 and Insurance are failing as photographs, not documents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Capture-class failures (blur, weak OCR, illegibility) dominate RC and Insurance, and later attempts pass MORE often. That is the signature of a capture / UX problem, not an eligibility one.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48640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F0E0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920240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Funnel: approved vs. lost by document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94360" y="2121408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172200" y="1828800"/>
            <a:ext cx="553212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F0E0A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27648" y="192024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pass rates rise — capture problem, not eligibility</a:t>
            </a:r>
            <a:endParaRPr lang="en-US" sz="95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63640" y="2121408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502920" y="5870448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85800" y="5870448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RC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 Insurance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captains are capture-only fails — isolated from eligibility reasons (expired, duplicate, wrong type). DL (1,166) is 100% uploaded-fail and cannot be deferred.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2 / 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recommendation, two sub-actions — RC defers, Insurance doesn't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353312"/>
            <a:ext cx="5486400" cy="480060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F0E0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5448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55448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 — RC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99339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Provisional activation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10-day in-person grace window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RC capture-only fails (~300/mo)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08960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defer: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identity — no passenger-liability exposure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639312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Show-up: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60 / 80% × 74–78% pass rate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169664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case: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~134/month additional approved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700016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+ Trust &amp; Safety sign-off on deferral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5596128"/>
            <a:ext cx="5212080" cy="438912"/>
          </a:xfrm>
          <a:prstGeom prst="roundRect">
            <a:avLst>
              <a:gd name="adj" fmla="val 12500"/>
            </a:avLst>
          </a:prstGeom>
          <a:solidFill>
            <a:srgbClr val="FFF8E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559612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remaining docs still bind: P(approved | passed RC) = 27% → ~36/month (Legal ask)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6199632" y="1353312"/>
            <a:ext cx="5486400" cy="480060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F0E0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73952" y="155448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73952" y="155448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— Insurance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199339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Guided capture UX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no deferral possible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2578608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 Insurance capture-only fails (~75/mo)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3108960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defer: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Liability document — must clear before first ride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3639312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rates: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67.4% → 73.8% → 76.4% pass on own retry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73952" y="4169664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case: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~46–52/month additional approved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73952" y="4700016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UX only — no sign-off required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36792" y="5596128"/>
            <a:ext cx="5212080" cy="438912"/>
          </a:xfrm>
          <a:prstGeom prst="roundRect">
            <a:avLst>
              <a:gd name="adj" fmla="val 12500"/>
            </a:avLst>
          </a:prstGeom>
          <a:solidFill>
            <a:srgbClr val="FFF8E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73952" y="559612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C1b this week. Start Legal scoping on C1a in parallel. Same camera UX can reuse on DL / Aadhaar / Permit / Fitness — not added to 180.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3 / 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SUPPLY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Overnight airport is a compounding economics problem, not a headcount problem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Captains online vs demand index by hour (18:00–05:00)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783080"/>
          <a:ext cx="53035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172200" y="1481328"/>
            <a:ext cx="553212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27648" y="157276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monthly payout estimate (₹k/month) at ₹35.4/leg</a:t>
            </a:r>
            <a:endParaRPr lang="en-US" sz="9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263640" y="1783080"/>
          <a:ext cx="53035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502920" y="5138928"/>
            <a:ext cx="3547872" cy="1298448"/>
          </a:xfrm>
          <a:prstGeom prst="roundRect">
            <a:avLst>
              <a:gd name="adj" fmla="val 4930"/>
            </a:avLst>
          </a:prstGeom>
          <a:solidFill>
            <a:srgbClr val="1E276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0080" y="5230368"/>
            <a:ext cx="3273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5687568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demand unfulfilled vs ~3% elsewhere</a:t>
            </a:r>
            <a:endParaRPr lang="en-US" sz="920" dirty="0"/>
          </a:p>
        </p:txBody>
      </p:sp>
      <p:sp>
        <p:nvSpPr>
          <p:cNvPr id="13" name="Shape 9"/>
          <p:cNvSpPr/>
          <p:nvPr/>
        </p:nvSpPr>
        <p:spPr>
          <a:xfrm>
            <a:off x="4206240" y="5138928"/>
            <a:ext cx="3547872" cy="1298448"/>
          </a:xfrm>
          <a:prstGeom prst="roundRect">
            <a:avLst>
              <a:gd name="adj" fmla="val 4930"/>
            </a:avLst>
          </a:prstGeom>
          <a:solidFill>
            <a:srgbClr val="1E276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4343400" y="5230368"/>
            <a:ext cx="3273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C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84%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5687568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night gap sits in 21:00–03:59 — only ~13 captains vs ~37 by day</a:t>
            </a:r>
            <a:endParaRPr lang="en-US" sz="920" dirty="0"/>
          </a:p>
        </p:txBody>
      </p:sp>
      <p:sp>
        <p:nvSpPr>
          <p:cNvPr id="16" name="Shape 12"/>
          <p:cNvSpPr/>
          <p:nvPr/>
        </p:nvSpPr>
        <p:spPr>
          <a:xfrm>
            <a:off x="7909560" y="5138928"/>
            <a:ext cx="3547872" cy="1298448"/>
          </a:xfrm>
          <a:prstGeom prst="roundRect">
            <a:avLst>
              <a:gd name="adj" fmla="val 4930"/>
            </a:avLst>
          </a:prstGeom>
          <a:solidFill>
            <a:srgbClr val="1E276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046720" y="5230368"/>
            <a:ext cx="3273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₹35.4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8046720" y="5687568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eligible leg = derived ARA payout (not 30% of fare = ₹105)</a:t>
            </a:r>
            <a:endParaRPr lang="en-US" sz="92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4 / 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DOESN'T WORK — AND HOW EASY IT IS TO BE FOOLED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campaign with 0pp lift, and a gap we must not bank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4406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F0E0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4475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CAMP_WA_002 — WhatsApp campaign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28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29% vs 11% headline is targeting, not effect.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94360" y="2121408"/>
          <a:ext cx="52120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85800" y="4617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comparison: clicked vs not-clicked (delivered only) = −1.5pp; 95% CI [−3.6, +0.6]. That is 0pp lift. Do not fund 5×.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1663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recipients also got another campaign — confounding further inflated.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172200" y="1325880"/>
            <a:ext cx="553212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F0E0A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4447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vs. self-serve gap — do not double-count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63640" y="2039112"/>
            <a:ext cx="118872" cy="11887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73952" y="196596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ceiling if app/paid converted like field: </a:t>
            </a:r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128–256 additional/month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6263640" y="2642616"/>
            <a:ext cx="118872" cy="11887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73952" y="256946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field teams recruit in person — </a:t>
            </a:r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cannot separate who they recruit from how they onboard</a:t>
            </a:r>
            <a:endParaRPr lang="en-US" sz="1020" dirty="0"/>
          </a:p>
        </p:txBody>
      </p:sp>
      <p:sp>
        <p:nvSpPr>
          <p:cNvPr id="16" name="Shape 13"/>
          <p:cNvSpPr/>
          <p:nvPr/>
        </p:nvSpPr>
        <p:spPr>
          <a:xfrm>
            <a:off x="6263640" y="3246120"/>
            <a:ext cx="118872" cy="11887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73952" y="317296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 of the C1a RC group are the same self-serve captains this gap already counts — </a:t>
            </a:r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add 180 + 128–256</a:t>
            </a:r>
            <a:endParaRPr lang="en-US" sz="1020" dirty="0"/>
          </a:p>
        </p:txBody>
      </p:sp>
      <p:sp>
        <p:nvSpPr>
          <p:cNvPr id="18" name="Shape 15"/>
          <p:cNvSpPr/>
          <p:nvPr/>
        </p:nvSpPr>
        <p:spPr>
          <a:xfrm>
            <a:off x="6263640" y="3849624"/>
            <a:ext cx="118872" cy="11887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73952" y="377647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 abandonment after Fitness: </a:t>
            </a:r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vs paid 43% — in-person assist, not WhatsApp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6263640" y="4453128"/>
            <a:ext cx="118872" cy="11887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473952" y="437997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move: </a:t>
            </a:r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Randomised assisted-onboarding pilot on app/paid signups (~900 per arm to detect a 5pp lift)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502920" y="5596128"/>
            <a:ext cx="11201400" cy="822960"/>
          </a:xfrm>
          <a:prstGeom prst="roundRect">
            <a:avLst>
              <a:gd name="adj" fmla="val 7778"/>
            </a:avLst>
          </a:prstGeom>
          <a:solidFill>
            <a:srgbClr val="1E276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13232" y="5596128"/>
            <a:ext cx="10744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move:  </a:t>
            </a:r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Send/no-send RCT on RC-cleared self-serve captains, excl. overlap.  </a:t>
            </a:r>
            <a:pPr indent="0" marL="0">
              <a:lnSpc>
                <a:spcPct val="115000"/>
              </a:lnSpc>
              <a:buNone/>
            </a:pPr>
            <a:r>
              <a:rPr lang="en-US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Randomised assisted-onboarding pilot</a:t>
            </a:r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app/paid signups (~900/arm to detect a 5pp lift).</a:t>
            </a:r>
            <a:endParaRPr lang="en-US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5 /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DECISION POINTS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Ranked by monthly impact. The campaign call is the fastest yes.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201400" cy="987552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68249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4475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C1a: 10-day RC in-person grace window</a:t>
            </a:r>
            <a:endParaRPr lang="en-US" sz="10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C1b: Insurance upload UX (ship this week)</a:t>
            </a:r>
            <a:endParaRPr lang="en-US" sz="108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444752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~180/mo approved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75320" y="1444752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C1a: Legal + T&amp;S sign-off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C1b: engineering only, no sign-off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378440" y="1444752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split by cohort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502920" y="2487168"/>
            <a:ext cx="11201400" cy="987552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2779776"/>
            <a:ext cx="384048" cy="384048"/>
          </a:xfrm>
          <a:prstGeom prst="ellipse">
            <a:avLst/>
          </a:prstGeom>
          <a:solidFill>
            <a:srgbClr val="FFC4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54203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Return Assurance at ₹35.4/leg (derived payout — not 30% of fare)</a:t>
            </a:r>
            <a:endParaRPr lang="en-US" sz="108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542032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₹69k–103k/mo payout; night gap closed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542032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trips ≠ city P&amp;L. Rest-suburban only.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78440" y="2542032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Return-in-20min, cancel rate, 4-wk payout run-rate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502920" y="3584448"/>
            <a:ext cx="11201400" cy="987552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3877056"/>
            <a:ext cx="384048" cy="384048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63931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CAMP_WA_002 5× scaling; run send/no-send RCT on RC-cleared self-serve captains</a:t>
            </a:r>
            <a:endParaRPr lang="en-US" sz="108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39312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avoided + causal answer in 4–6 weeks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3639312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zero — a redirection, not new spend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378440" y="3639312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Aadhaar-pass, approved (ITT)</a:t>
            </a:r>
            <a:endParaRPr lang="en-US" sz="820" dirty="0"/>
          </a:p>
        </p:txBody>
      </p:sp>
      <p:sp>
        <p:nvSpPr>
          <p:cNvPr id="25" name="Text 23"/>
          <p:cNvSpPr txBox="1"/>
          <p:nvPr/>
        </p:nvSpPr>
        <p:spPr>
          <a:xfrm>
            <a:off x="2240280" y="12618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126187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IMPACT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12618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RISK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10378440" y="1261872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02920" y="4754880"/>
            <a:ext cx="11201400" cy="987552"/>
          </a:xfrm>
          <a:prstGeom prst="roundRect">
            <a:avLst>
              <a:gd name="adj" fmla="val 6481"/>
            </a:avLst>
          </a:prstGeom>
          <a:solidFill>
            <a:srgbClr val="F9616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4754880"/>
            <a:ext cx="106984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the room: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Ship Insurance capture UX — no need to wait.   (2) Legal scoping on RC deferral, this week.   (3) Kill the 5× WhatsApp paper; stand up the RCT.   (4) Four-week ARA pilot at the derived ₹35.4, not 30% of fare.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6 / 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2026-09-10T17:53:27Z</dcterms:created>
  <dcterms:modified xsi:type="dcterms:W3CDTF">2026-09-10T17:53:27Z</dcterms:modified>
</cp:coreProperties>
</file>