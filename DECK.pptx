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₹k / month</c:v>
                </c:pt>
              </c:strCache>
            </c:strRef>
          </c:tx>
          <c:spPr>
            <a:solidFill>
              <a:srgbClr val="F0C9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C191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0C9A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5C2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3E6C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Low (80%)</c:v>
                  </c:pt>
                  <c:pt idx="1">
                    <c:v>Central (100%)</c:v>
                  </c:pt>
                  <c:pt idx="2">
                    <c:v>High (120%)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69</c:v>
                </c:pt>
                <c:pt idx="1">
                  <c:v>86</c:v>
                </c:pt>
                <c:pt idx="2">
                  <c:v>103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C191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191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"/>
          <c:min val="0"/>
        </c:scaling>
        <c:delete val="0"/>
        <c:axPos val="l"/>
        <c:majorGridlines>
          <c:spPr>
            <a:ln w="6350" cap="flat">
              <a:solidFill>
                <a:srgbClr val="E8D5C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Completion rate (%)</c:v>
                </c:pt>
              </c:strCache>
            </c:strRef>
          </c:tx>
          <c:spPr>
            <a:solidFill>
              <a:srgbClr val="C45C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191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5C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6E4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0C9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6E4D4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Naive: got
campaign</c:v>
                  </c:pt>
                  <c:pt idx="1">
                    <c:v>Naive: never
got it</c:v>
                  </c:pt>
                  <c:pt idx="2">
                    <c:v>Honest: clicked</c:v>
                  </c:pt>
                  <c:pt idx="3">
                    <c:v>Honest:
not clicked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</c:v>
                </c:pt>
                <c:pt idx="1">
                  <c:v>11</c:v>
                </c:pt>
                <c:pt idx="2">
                  <c:v>28.3</c:v>
                </c:pt>
                <c:pt idx="3">
                  <c:v>29.8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C191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191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8D5C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C1b ~50. C1a is a Legal scenario. Campaign 0 pp. 98.7% R2A.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8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 ·  RAMANATHAN K R  ·  EXTRACT 30 JUN 2026, 23:59 IST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164592"/>
            <a:ext cx="868680" cy="868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85216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 Insurance capture this week (~50/mo). Do not 5× WhatsApp. Do not hire the airport.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984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I will put my name on this week is ~50 extra approved / month (C1b, no Legal). RC grace is ~134/mo only if Legal treats deferred RC as activation — otherwise ~36. 98.7% of mature approved already take a first trip (3,895 / 3,946): documents, not first-order.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993392"/>
            <a:ext cx="6903720" cy="3950208"/>
          </a:xfrm>
          <a:prstGeom prst="roundRect">
            <a:avLst>
              <a:gd name="adj" fmla="val 2315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066544"/>
            <a:ext cx="6537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Legal says yes, C1a + C1b (disjoint) — not an unconditional bank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59152"/>
            <a:ext cx="6537960" cy="34290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589520" y="1993392"/>
            <a:ext cx="406908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0" y="2121408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 / mo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7772400" y="2651760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 Insurance UX. Ship this week. Engineering only. This is the unconditional number.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589520" y="3364992"/>
            <a:ext cx="406908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72400" y="3493008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~134 / ~36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0" y="4023360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C1a RC grace at 60% show-up if Legal yes. If remaining docs still bind: ~36.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589520" y="4736592"/>
            <a:ext cx="4069080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0" y="4864608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pp</a:t>
            </a:r>
            <a:endParaRPr lang="en-US" sz="2800" dirty="0"/>
          </a:p>
        </p:txBody>
      </p:sp>
      <p:sp>
        <p:nvSpPr>
          <p:cNvPr id="17" name="Text 13"/>
          <p:cNvSpPr txBox="1"/>
          <p:nvPr/>
        </p:nvSpPr>
        <p:spPr>
          <a:xfrm>
            <a:off x="7772400" y="5394960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CAMP_WA_002 honest contrast (clicked vs not). Do not fund 5×.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6E4D4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02920" y="64739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339535" y="647395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·  Rapido Data Science Assessment     1 / 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8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164592"/>
            <a:ext cx="868680" cy="868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21792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 and Insurance are failing as photographs, not documents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0700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Capture-class failures (blur, weak OCR, illegibility) dominate RC and Insurance, and later attempts pass more often. That is a capture / UX problem, not an eligibility one.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1847088"/>
            <a:ext cx="548640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93852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loss: only the photo slice is C1a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12848"/>
            <a:ext cx="5212080" cy="32004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172200" y="1847088"/>
            <a:ext cx="553212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55080" y="19385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leftovers — only 411 are C1b</a:t>
            </a:r>
            <a:endParaRPr lang="en-US" sz="14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212848"/>
            <a:ext cx="5257800" cy="32004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02920" y="5650992"/>
            <a:ext cx="11201400" cy="713232"/>
          </a:xfrm>
          <a:prstGeom prst="roundRect">
            <a:avLst>
              <a:gd name="adj" fmla="val 12821"/>
            </a:avLst>
          </a:prstGeom>
          <a:solidFill>
            <a:srgbClr val="F3E6C0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85800" y="5650992"/>
            <a:ext cx="10835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1,637 RC and 411 Insurance captains are capture-only fails — isolated from eligibility (expired, duplicate, wrong type). DL (1,166) is 100% uploaded-fail and cannot be deferred.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6E4D4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502920" y="64739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339535" y="647395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·  Rapido Data Science Assessment     2 / 6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8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164592"/>
            <a:ext cx="868680" cy="868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21792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C1b ships this week. C1a is a Legal decision, not a bank.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5532120" cy="4709160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13232" y="1444752"/>
            <a:ext cx="1965960" cy="365760"/>
          </a:xfrm>
          <a:prstGeom prst="roundRect">
            <a:avLst>
              <a:gd name="adj" fmla="val 50000"/>
            </a:avLst>
          </a:prstGeom>
          <a:solidFill>
            <a:srgbClr val="F3E6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13232" y="1444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 — ship now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190195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Guided Insurance capture UX — no deferral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260604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411 Insurance capture-only fails (~75/mo)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099816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defer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Liability document — must clear before first ride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3593592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67.4% → 73.8% → 76.4% pass on own retry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13232" y="408736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~46–52/month additional approved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" y="4581144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UX only — no Legal sign-off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5440680"/>
            <a:ext cx="5212080" cy="438912"/>
          </a:xfrm>
          <a:prstGeom prst="roundRect">
            <a:avLst>
              <a:gd name="adj" fmla="val 12500"/>
            </a:avLst>
          </a:prstGeom>
          <a:solidFill>
            <a:srgbClr val="F8F1E3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13232" y="544068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number I would put in a deck with my name on it this week.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99632" y="1280160"/>
            <a:ext cx="5532120" cy="4709160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455664" y="1444752"/>
            <a:ext cx="1965960" cy="365760"/>
          </a:xfrm>
          <a:prstGeom prst="roundRect">
            <a:avLst>
              <a:gd name="adj" fmla="val 50000"/>
            </a:avLst>
          </a:prstGeom>
          <a:solidFill>
            <a:srgbClr val="F3E6C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55664" y="1444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C1a — if Legal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455664" y="190195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Provisional RC · 10-day in-person grace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6455664" y="260604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1,637 RC capture-only fails (~300/mo)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5664" y="3099816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defer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identity — no passenger-liability exposure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455664" y="3593592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Show-up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Unobserved. 40 / 60 / 80% × 74–78% pass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455664" y="408736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Legal yes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~134/month at 60% show-up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455664" y="4581144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docs still bind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~36/month (27% approved | passed RC)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364224" y="5440680"/>
            <a:ext cx="5212080" cy="438912"/>
          </a:xfrm>
          <a:prstGeom prst="roundRect">
            <a:avLst>
              <a:gd name="adj" fmla="val 12500"/>
            </a:avLst>
          </a:prstGeom>
          <a:solidFill>
            <a:srgbClr val="F8F1E3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55664" y="544068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add C1a to ~50 until Legal/T&amp;S treat deferred RC as activation.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6E4D4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02920" y="64739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6339535" y="647395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·  Rapido Data Science Assessment     3 / 6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8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SUPPLY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164592"/>
            <a:ext cx="868680" cy="868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0350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 hire the catchment. After the trip, the night still loses money.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02920" y="1115568"/>
            <a:ext cx="5486400" cy="2944368"/>
          </a:xfrm>
          <a:prstGeom prst="roundRect">
            <a:avLst>
              <a:gd name="adj" fmla="val 3106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1704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— when the pain sits</a:t>
            </a:r>
            <a:endParaRPr lang="en-US" sz="1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08176"/>
            <a:ext cx="5212080" cy="2560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72200" y="1115568"/>
            <a:ext cx="5532120" cy="2944368"/>
          </a:xfrm>
          <a:prstGeom prst="roundRect">
            <a:avLst>
              <a:gd name="adj" fmla="val 3106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355080" y="11704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 — price the deadhead (₹k/mo at ₹35.4/leg)</a:t>
            </a:r>
            <a:endParaRPr lang="en-US" sz="14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263640" y="1408176"/>
          <a:ext cx="53035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Shape 6"/>
          <p:cNvSpPr/>
          <p:nvPr/>
        </p:nvSpPr>
        <p:spPr>
          <a:xfrm>
            <a:off x="502920" y="4133088"/>
            <a:ext cx="11201400" cy="640080"/>
          </a:xfrm>
          <a:prstGeom prst="roundRect">
            <a:avLst>
              <a:gd name="adj" fmla="val 14286"/>
            </a:avLst>
          </a:prstGeom>
          <a:solidFill>
            <a:srgbClr val="F3E6C0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58368" y="413308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 — after the trip: suburban backhaul and overnight return-in-20min collapse compound. Mix does not shift after dark (χ² p=0.12). New hires inherit both penalties. Not 30% of fare (₹105).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02920" y="48463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6E4D4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67512" y="48828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667512" y="526694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Unfulfilled at terminals vs ~3% elsewhere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251960" y="48463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3E6C0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416552" y="48828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84%</a:t>
            </a:r>
            <a:endParaRPr lang="en-US" sz="2400" dirty="0"/>
          </a:p>
        </p:txBody>
      </p:sp>
      <p:sp>
        <p:nvSpPr>
          <p:cNvPr id="18" name="Text 13"/>
          <p:cNvSpPr txBox="1"/>
          <p:nvPr/>
        </p:nvSpPr>
        <p:spPr>
          <a:xfrm>
            <a:off x="4416552" y="526694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that gap is 21:00–03:59 — ~13 captains vs ~37 by day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8001000" y="48463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6E4D4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165592" y="48828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₹35.4</a:t>
            </a:r>
            <a:endParaRPr lang="en-US" sz="2400" dirty="0"/>
          </a:p>
        </p:txBody>
      </p:sp>
      <p:sp>
        <p:nvSpPr>
          <p:cNvPr id="21" name="Text 16"/>
          <p:cNvSpPr txBox="1"/>
          <p:nvPr/>
        </p:nvSpPr>
        <p:spPr>
          <a:xfrm>
            <a:off x="8165592" y="526694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eligible night-suburban leg. 4-week pilot; hire only if run-rate falls.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6E4D4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502920" y="64739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6339535" y="647395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·  Rapido Data Science Assessment     4 / 6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8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NOT WORK — AND HOW EASY IT IS TO BE FOOLED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164592"/>
            <a:ext cx="868680" cy="868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21792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campaign with 0 pp lift, and a gap we must not bank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5532120" cy="4315968"/>
          </a:xfrm>
          <a:prstGeom prst="roundRect">
            <a:avLst>
              <a:gd name="adj" fmla="val 2119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29844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CAMP_WA_002 — WhatsApp campaign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645920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29% vs 11% headline is targeting, not effect.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94360" y="1938528"/>
          <a:ext cx="53035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85800" y="4315968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comparison: clicked vs not-clicked (delivered only) = −1.5 pp; 95% CI [−3.6, +0.6]. That is 0 pp lift. Do not fund 5×.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4956048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of recipients also got another campaign — confounding further inflated.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199632" y="1207008"/>
            <a:ext cx="5532120" cy="4315968"/>
          </a:xfrm>
          <a:prstGeom prst="roundRect">
            <a:avLst>
              <a:gd name="adj" fmla="val 2119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382512" y="129844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vs self-serve — do not double-count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400800" y="1847088"/>
            <a:ext cx="128016" cy="128016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656832" y="1755648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ceiling if app/paid converted like field: 128–256 additional/month.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0" y="2560320"/>
            <a:ext cx="128016" cy="128016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656832" y="2468880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teams recruit in person — extract cannot separate who they recruit from how they onboard.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400800" y="3273552"/>
            <a:ext cx="128016" cy="128016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656832" y="3182112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726 of the C1a RC group are the same self-serve captains this gap already counts. Do not add 180 + 128–256.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400800" y="3986784"/>
            <a:ext cx="128016" cy="128016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656832" y="3895344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 abandonment after Fitness: 26% vs paid 43% — in-person assist, not WhatsApp.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400800" y="4700016"/>
            <a:ext cx="128016" cy="128016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656832" y="4608576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move: randomised assisted-onboarding pilot on app/paid (~900 per arm to detect a 5 pp lift).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6E4D4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502920" y="64739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339535" y="647395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·  Rapido Data Science Assessment     5 / 6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8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&amp; DECISION POINTS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164592"/>
            <a:ext cx="868680" cy="868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217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Ranked by what can start Monday. C1a is not in the unconditional bank.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1965960" y="117043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989320" y="117043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IMPACT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11704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RISK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1444752"/>
            <a:ext cx="1120140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3232" y="1755648"/>
            <a:ext cx="457200" cy="457200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13232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1536192"/>
            <a:ext cx="4434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 Insurance capture UX — ship this week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Legal scoping on C1a RC grace (do not bank 134 yet)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1536192"/>
            <a:ext cx="2286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~50/mo now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(+134 only if Legal)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0" y="1536192"/>
            <a:ext cx="3154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C1b: engineering. C1a: Legal/T&amp;S. Show-up unobserved.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596896"/>
            <a:ext cx="11201400" cy="1078992"/>
          </a:xfrm>
          <a:prstGeom prst="roundRect">
            <a:avLst>
              <a:gd name="adj" fmla="val 8475"/>
            </a:avLst>
          </a:prstGeom>
          <a:solidFill>
            <a:srgbClr val="F8F1E3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13232" y="2907792"/>
            <a:ext cx="457200" cy="457200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13232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2688336"/>
            <a:ext cx="4434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Return Assurance at ₹35.4/leg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hire. After-trip mix does not shift (p=0.12).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0" y="2688336"/>
            <a:ext cx="2286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₹69k–103k/mo sample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2688336"/>
            <a:ext cx="3154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trips ≠ city P&amp;L. Rest-suburban only.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749040"/>
            <a:ext cx="1120140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3232" y="4059936"/>
            <a:ext cx="457200" cy="457200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13232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3840480"/>
            <a:ext cx="4434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CAMP_WA_002 5×. Send/no-send RCT on RC-cleared self-serve captains.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840480"/>
            <a:ext cx="2286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pp  ·  cost avoided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3840480"/>
            <a:ext cx="3154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zero — a redirection, not new spend.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02920" y="4956048"/>
            <a:ext cx="11201400" cy="1024128"/>
          </a:xfrm>
          <a:prstGeom prst="roundRect">
            <a:avLst>
              <a:gd name="adj" fmla="val 8929"/>
            </a:avLst>
          </a:prstGeom>
          <a:solidFill>
            <a:srgbClr val="F3E6C0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4956048"/>
            <a:ext cx="10835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the room   (1) Ship Insurance capture UX this week — the ~50.   (2) Legal: is deferred RC activation? If no, C1a is ~36 not ~134.   (3) Kill 5× WhatsApp; stand up the RCT.   (4) Four-week ARA at ₹35.4, not 30% of fare.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6E4D4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2920" y="64739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339535" y="647395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·  Rapido Data Science Assessment     6 / 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2026-09-10T19:28:33Z</dcterms:created>
  <dcterms:modified xsi:type="dcterms:W3CDTF">2026-09-10T19:28:33Z</dcterms:modified>
</cp:coreProperties>
</file>