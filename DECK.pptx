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of ~180/mo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bubble3D val="0"/>
            <c:spPr>
              <a:solidFill>
                <a:srgbClr val="F9616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C1a RC ~134</c:v>
                </c:pt>
                <c:pt idx="1">
                  <c:v>C1b Insurance ~50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134</c:v>
                </c:pt>
                <c:pt idx="1">
                  <c:v>50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RC lost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Capture-only 1,637</c:v>
                </c:pt>
                <c:pt idx="1">
                  <c:v>Other RC 3,768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1637</c:v>
                </c:pt>
                <c:pt idx="1">
                  <c:v>3768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Captains lost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DL</c:v>
                  </c:pt>
                  <c:pt idx="1">
                    <c:v>RC</c:v>
                  </c:pt>
                  <c:pt idx="2">
                    <c:v>Aadhaar</c:v>
                  </c:pt>
                  <c:pt idx="3">
                    <c:v>Permit</c:v>
                  </c:pt>
                  <c:pt idx="4">
                    <c:v>Fitness</c:v>
                  </c:pt>
                  <c:pt idx="5">
                    <c:v>Insurance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1166</c:v>
                </c:pt>
                <c:pt idx="1">
                  <c:v>5405</c:v>
                </c:pt>
                <c:pt idx="2">
                  <c:v>1540</c:v>
                </c:pt>
                <c:pt idx="3">
                  <c:v>2616</c:v>
                </c:pt>
                <c:pt idx="4">
                  <c:v>2653</c:v>
                </c:pt>
                <c:pt idx="5">
                  <c:v>3289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A8F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RC pass %</c:v>
                </c:pt>
              </c:strCache>
            </c:strRef>
          </c:tx>
          <c:spPr>
            <a:solidFill>
              <a:srgbClr val="F96167"/>
            </a:solidFill>
            <a:ln w="31750" cap="flat">
              <a:solidFill>
                <a:srgbClr val="F9616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1st try</c:v>
                  </c:pt>
                  <c:pt idx="1">
                    <c:v>2nd try</c:v>
                  </c:pt>
                  <c:pt idx="2">
                    <c:v>3rd try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65.3</c:v>
                </c:pt>
                <c:pt idx="1">
                  <c:v>68.4</c:v>
                </c:pt>
                <c:pt idx="2">
                  <c:v>74.1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pass %</c:v>
                </c:pt>
              </c:strCache>
            </c:strRef>
          </c:tx>
          <c:spPr>
            <a:solidFill>
              <a:srgbClr val="1C7293"/>
            </a:solidFill>
            <a:ln w="3175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1st try</c:v>
                  </c:pt>
                  <c:pt idx="1">
                    <c:v>2nd try</c:v>
                  </c:pt>
                  <c:pt idx="2">
                    <c:v>3rd try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67.4</c:v>
                </c:pt>
                <c:pt idx="1">
                  <c:v>73.8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55"/>
        </c:scaling>
        <c:delete val="0"/>
        <c:axPos val="l"/>
        <c:majorGridlines>
          <c:spPr>
            <a:ln w="635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A8F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Airport unfulfilled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21:00–03:59</c:v>
                </c:pt>
                <c:pt idx="1">
                  <c:v>Rest of day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84</c:v>
                </c:pt>
                <c:pt idx="1">
                  <c:v>16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76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 ₹k / month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80%</c:v>
                  </c:pt>
                  <c:pt idx="1">
                    <c:v>100%</c:v>
                  </c:pt>
                  <c:pt idx="2">
                    <c:v>120%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86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%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Naive: got CAMP</c:v>
                  </c:pt>
                  <c:pt idx="1">
                    <c:v>Naive: never</c:v>
                  </c:pt>
                  <c:pt idx="2">
                    <c:v>Clicked</c:v>
                  </c:pt>
                  <c:pt idx="3">
                    <c:v>Not clicked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11</c:v>
                </c:pt>
                <c:pt idx="2">
                  <c:v>28.3</c:v>
                </c:pt>
                <c:pt idx="3">
                  <c:v>29.8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~180 medium confidence. 98.7% first trip. Documents are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penalties. Mix does not shift. ARA first. Hire only if 4-week run-rate is not falling.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interrupted: slides 1, 4,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FFC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344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DATA SCIENCE ASSESSMENT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Captain onboarding leak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overnight airport supply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Head of Supply: ~180 extra approved captains a month from two photo-quality fixes, and why overnight airport supply is an economics problem, not a hiring push.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886200"/>
            <a:ext cx="2377440" cy="0"/>
          </a:xfrm>
          <a:prstGeom prst="line">
            <a:avLst/>
          </a:prstGeom>
          <a:noFill/>
          <a:ln w="38100">
            <a:solidFill>
              <a:srgbClr val="FFC4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Ramanathan K 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480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September 2026  ·  extract 30 Jun 2026, 23:59 IST  ·  25k captains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74920"/>
            <a:ext cx="960120" cy="96012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5138928"/>
            <a:ext cx="868680" cy="86868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5102352"/>
            <a:ext cx="914400" cy="91440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5138928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photo fixes recover ~180 approved captains a month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6235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of the ~180  (disjoint C1a + C1b)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53949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1097280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46520" y="118872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loss: only the capture slice is C1a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55080" y="1417320"/>
          <a:ext cx="52120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4805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572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66928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mature approved take a first trip (3,895 / 3,946)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364992" y="44805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474720" y="4572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~134/mo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3474720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RC 10-day grace · 60% show-up assumed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72784" y="44805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82512" y="4572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~50/mo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6382512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Insurance camera UX · no deferral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180576" y="44805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290304" y="4572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~180</a:t>
            </a:r>
            <a:endParaRPr lang="en-US" sz="2200" dirty="0"/>
          </a:p>
        </p:txBody>
      </p:sp>
      <p:sp>
        <p:nvSpPr>
          <p:cNvPr id="21" name="Text 17"/>
          <p:cNvSpPr/>
          <p:nvPr/>
        </p:nvSpPr>
        <p:spPr>
          <a:xfrm>
            <a:off x="9290304" y="5074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these two only — do not add fos 128–256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1 / 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 and Insurance fail as photographs, not documents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56692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17043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lost by stage (mature ∩ events)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71600"/>
          <a:ext cx="553212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309360" y="1078992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73952" y="117043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pass rates rise — capture, not eligibility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55080" y="1371600"/>
          <a:ext cx="52578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61772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4736592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 +  411 Insurance  = capture-only (blur / OCR / illegible). DL 1,166 is 100% uploaded-fail and cannot be deferred. Aadhaar / Permit / Fitness are mostly never-upload or eligibility — a camera does not fix those.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2 / 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C1b ships this week. C1a waits on Legal. Same camera is not extra 180.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5778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1417320" cy="310896"/>
          </a:xfrm>
          <a:prstGeom prst="roundRect">
            <a:avLst>
              <a:gd name="adj" fmla="val 47059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344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 RC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170432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66420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Provisional RC · 10-day in-person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3232" y="2286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057400" y="22860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capture-only · ~300/mo flow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13232" y="28529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defer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057400" y="28529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ID, not passenger liability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13232" y="341985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057400" y="341985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× 60% show-up × 74% pass ≈ 134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13232" y="398678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057400" y="398678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Show-up unobserved. Legal must treat as activation.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13232" y="455371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057400" y="4553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remaining docs bind → ~36/month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17920" y="1051560"/>
            <a:ext cx="55778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234440"/>
            <a:ext cx="1417320" cy="310896"/>
          </a:xfrm>
          <a:prstGeom prst="roundRect">
            <a:avLst>
              <a:gd name="adj" fmla="val 47059"/>
            </a:avLst>
          </a:prstGeom>
          <a:solidFill>
            <a:srgbClr val="1C7293"/>
          </a:solidFill>
          <a:ln/>
        </p:spPr>
      </p:sp>
      <p:sp>
        <p:nvSpPr>
          <p:cNvPr id="21" name="Text 18"/>
          <p:cNvSpPr/>
          <p:nvPr/>
        </p:nvSpPr>
        <p:spPr>
          <a:xfrm>
            <a:off x="6446520" y="12344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 INS</a:t>
            </a:r>
            <a:endParaRPr lang="en-US" sz="11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0" y="1170432"/>
            <a:ext cx="475488" cy="47548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446520" y="166420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capture UX · no deferral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6473952" y="2286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818120" y="22860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capture-only · must clear before a ride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473952" y="28529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7818120" y="28529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document — cannot defer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473952" y="341985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Maths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7818120" y="341985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67→76% pass × 91% approved-if-cleared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473952" y="398678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7818120" y="398678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~46–52 extra approved / month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473952" y="455371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7818120" y="4553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only — ship this week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3 / 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SUPPLY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hire the catchment. Price the deadhead.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56235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1155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pain sits (unfulfilled volume)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25880"/>
          <a:ext cx="54406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1024128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19088" y="111556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sample cost at ₹35.4 / eligible leg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55080" y="1325880"/>
          <a:ext cx="52578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434840"/>
            <a:ext cx="3703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4360" y="452628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94360" y="50292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unfulfilled at terminals vs ~3% elsewhere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0" y="4434840"/>
            <a:ext cx="3703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452628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 vs ~37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434840" y="50292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captains online nights vs rest of day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38160" y="4434840"/>
            <a:ext cx="3703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75320" y="452628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₹35.4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275320" y="50292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/ unpaid night-suburban leg — not 30% of fare (₹105)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4 / 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pp campaign lift. Do not bank the field gap.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56692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11556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CAMP_WA_002 — naive vs honest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71600"/>
          <a:ext cx="54864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21792" y="429768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Clicked vs not (delivered): −1.5pp, CI [−3.6, +0.6] → 0 pp. The 29% vs 11% gap is targeting after RC. Do not scale 5×.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309360" y="1024128"/>
            <a:ext cx="539496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3952" y="111556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add these to 180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92240" y="1508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Field vs app 128–256/month is selection, not a product lift.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92240" y="21671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726 C1a captains already sit in that self-serve gap.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92240" y="282549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Never-upload RC ~2,388 / Insurance ~2,530 is not another WhatsApp (CAMP was 0 pp).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92240" y="348386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ARA at 30% of fare (₹105) overpays vs ₹35.4.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41422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Test: assist RCT on app/paid (~900/arm for a 5pp approval lift).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5 /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ROOM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by monthly impact. Campaign stop is the fastest yes.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25296"/>
            <a:ext cx="640080" cy="640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417320" y="131673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1417320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965960" y="118872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camera this week, then C1a RC grace after Legal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040880" y="118872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~180/mo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89720" y="11887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on C1a; C1b is engineering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2139696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40864"/>
            <a:ext cx="640080" cy="6400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417320" y="2432304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0"/>
          <p:cNvSpPr/>
          <p:nvPr/>
        </p:nvSpPr>
        <p:spPr>
          <a:xfrm>
            <a:off x="1417320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965960" y="230428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₹35.4 / unpaid night-suburban leg · 4 weeks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7040880" y="230428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₹69–103k sample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9189720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hire. Not city-core.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57200" y="3255264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56432"/>
            <a:ext cx="640080" cy="6400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417320" y="354787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6"/>
          <p:cNvSpPr/>
          <p:nvPr/>
        </p:nvSpPr>
        <p:spPr>
          <a:xfrm>
            <a:off x="1417320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1965960" y="341985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CAMP 5×; send/no-send RCT on RC-cleared app/paid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7040880" y="341985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avoided + 4–6 wks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9189720" y="341985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zero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48056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6F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40080" y="461772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ship Insurance UX · scope RC deferral · kill 5× paper · start 4-week ARA at ₹35.4, not 30% of fare.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411480" y="65105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6156655" y="651052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6 / 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2026-09-10T17:23:21Z</dcterms:created>
  <dcterms:modified xsi:type="dcterms:W3CDTF">2026-09-10T17:23:21Z</dcterms:modified>
</cp:coreProperties>
</file>