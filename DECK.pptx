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of ~180/mo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bubble3D val="0"/>
            <c:spPr>
              <a:solidFill>
                <a:srgbClr val="F9616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C1a RC ~134</c:v>
                </c:pt>
                <c:pt idx="1">
                  <c:v>C1b Insurance ~50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134</c:v>
                </c:pt>
                <c:pt idx="1">
                  <c:v>50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RC lost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Capture-only 1,637</c:v>
                </c:pt>
                <c:pt idx="1">
                  <c:v>Other RC 3,768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1637</c:v>
                </c:pt>
                <c:pt idx="1">
                  <c:v>3768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RC Pass Rate (%)</c:v>
                </c:pt>
              </c:strCache>
            </c:strRef>
          </c:tx>
          <c:spPr>
            <a:solidFill>
              <a:srgbClr val="F96167"/>
            </a:solidFill>
            <a:ln w="31750" cap="flat">
              <a:solidFill>
                <a:srgbClr val="F9616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96167"/>
              </a:solidFill>
              <a:ln w="9525" cap="flat">
                <a:solidFill>
                  <a:srgbClr val="F9616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65.3</c:v>
                </c:pt>
                <c:pt idx="1">
                  <c:v>68.4</c:v>
                </c:pt>
                <c:pt idx="2">
                  <c:v>74.1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Pass Rate (%)</c:v>
                </c:pt>
              </c:strCache>
            </c:strRef>
          </c:tx>
          <c:spPr>
            <a:solidFill>
              <a:srgbClr val="1C7293"/>
            </a:solidFill>
            <a:ln w="3175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1st try</c:v>
                  </c:pt>
                  <c:pt idx="1">
                    <c:v>2nd try</c:v>
                  </c:pt>
                  <c:pt idx="2">
                    <c:v>3rd try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67</c:v>
                </c:pt>
                <c:pt idx="1">
                  <c:v>74</c:v>
                </c:pt>
                <c:pt idx="2">
                  <c:v>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55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Airport unfulfilled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bubble3D val="0"/>
            <c:spPr>
              <a:solidFill>
                <a:srgbClr val="FFC4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21:00–03:59</c:v>
                </c:pt>
                <c:pt idx="1">
                  <c:v>Rest of day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84</c:v>
                </c:pt>
                <c:pt idx="1">
                  <c:v>16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444444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₹/leg payout scenario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Low
(80%)</c:v>
                  </c:pt>
                  <c:pt idx="1">
                    <c:v>Central
(100%)</c:v>
                  </c:pt>
                  <c:pt idx="2">
                    <c:v>High
(120%)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69</c:v>
                </c:pt>
                <c:pt idx="1">
                  <c:v>86</c:v>
                </c:pt>
                <c:pt idx="2">
                  <c:v>103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Completion Rate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8F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8FA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got
campaign</c:v>
                  </c:pt>
                  <c:pt idx="1">
                    <c:v>Naive: never
got it</c:v>
                  </c:pt>
                  <c:pt idx="2">
                    <c:v>Honest: clicked</c:v>
                  </c:pt>
                  <c:pt idx="3">
                    <c:v>Honest:
not clicked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</c:v>
                </c:pt>
                <c:pt idx="1">
                  <c:v>11</c:v>
                </c:pt>
                <c:pt idx="2">
                  <c:v>28.3</c:v>
                </c:pt>
                <c:pt idx="3">
                  <c:v>29.8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 (2 min): ~180, medium confidence (~134 RC + ~50 Insurance). These are not hollow approvals — 98.7% of approved captains take a first trip. Documents are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RC and Insurance failures are photos/OCR. Retry pass rates rise each attempt — that is the capture signature. Other stages are real loss, different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C1b this week — no Legal needed. C1a needs Legal. If remaining docs bind after RC, C1a shrinks toward ~36/month — that is the question to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Airport: the answer is ARA, not headcount. Two independent penalties — suburban backhaul and overnight return collapse. Mix does not shift after dark. New hires inherit both penalties.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Trap: 29% vs 11% is targeting, not lift. Honest contrast = 0pp. 128–256 field gap overlaps 726 of the C1a captains. Do not add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C1b → Legal C1a → 4-week ARA → kill 5×. Queue: other-doc camera, then assisted-onboarding RCT.
If interrupted twice: show slides 1, 4,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1A2255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389120"/>
            <a:ext cx="4572000" cy="4572000"/>
          </a:xfrm>
          <a:prstGeom prst="ellipse">
            <a:avLst/>
          </a:prstGeom>
          <a:solidFill>
            <a:srgbClr val="1A2255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200400"/>
            <a:ext cx="2286000" cy="2286000"/>
          </a:xfrm>
          <a:prstGeom prst="ellipse">
            <a:avLst/>
          </a:prstGeom>
          <a:solidFill>
            <a:srgbClr val="1D2A6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DATA SCIENCE ASSESSMENT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1907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Captain onboarding leak</a:t>
            </a:r>
            <a:endParaRPr lang="en-US" sz="36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overnight airport supply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and recommendations for the Head of Supply — where the extra ~180 approved captains a month come from, and why overnight airport supply is an economics problem, not a headcount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31750">
            <a:solidFill>
              <a:srgbClr val="FFC4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37083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Ramanathan K 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2803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Assessment  ·  10 September 2026  ·  Data extract as of 30 Jun 2026, 23:59 IST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563270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25k signups  ·  RC  ·  Insurance  ·  Airport nights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ONBOARDING — THE HEADLINE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8686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broken capture step costs ~180 captains/month.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capture-quality fixes on RC and Insurance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not a mix of five things — recover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 additional approved captains/month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medium confidence.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of the ~180  (disjoint C1a + C1b)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331720"/>
          <a:ext cx="66751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2011680"/>
            <a:ext cx="4069080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26680" y="2121408"/>
            <a:ext cx="379476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98.7%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2653589"/>
            <a:ext cx="37947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mature approved captains take a first trip (3,895 / 3,946) — documents are the bottleneck, not first-order.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89520" y="336499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26680" y="347472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~134/mo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92606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an RC in-person grace window (C1a)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89520" y="4553712"/>
            <a:ext cx="4069080" cy="1078992"/>
          </a:xfrm>
          <a:prstGeom prst="roundRect">
            <a:avLst>
              <a:gd name="adj" fmla="val 7627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26680" y="4663440"/>
            <a:ext cx="3794760" cy="561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~50/mo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114788"/>
            <a:ext cx="3794760" cy="474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from Insurance guided capture UX fix (C1b)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1 / 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 and Insurance are failing as photographs, not documents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Capture-class failures (blur, weak OCR, illegibility) dominate RC and Insurance, and later attempts pass MORE often. That is the signature of a capture / UX problem, not an eligibility one.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92024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loss: only the photo slice is C1a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21408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828800"/>
            <a:ext cx="55321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27648" y="19202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pass rates rise — capture problem, not eligibility</a:t>
            </a:r>
            <a:endParaRPr lang="en-US" sz="9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63640" y="2121408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5870448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85800" y="5870448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are capture-only fails — isolated from eligibility reasons (expired, duplicate, wrong type). DL (1,166) is 100% uploaded-fail and cannot be deferred.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2 / 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recommendation, two sub-actions — RC defers, Insurance doesn't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 — RC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Provisional activation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10-day in-person grace window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1,637 RC capture-only fails (~300/mo)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identity — no passenger-liability exposure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Show-up: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60 / 80% × 74–78% pass rate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~134/month additional approved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+ Trust &amp; Safety sign-off on deferral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F8E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remaining docs still bind: P(approved | passed RC) = 27% → ~36/month (Legal ask)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199632" y="1353312"/>
            <a:ext cx="54864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73952" y="155448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73952" y="155448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 — Insurance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73952" y="1993392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Guided capture UX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no deferral possible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578608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 Insurance capture-only fails (~75/mo)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0896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defer: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Liability document — must clear before first ride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363931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67.4% → 73.8% → 76.4% pass on own retry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416966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case: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~46–52/month additional approved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73952" y="4700016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Needs: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UX only — no sign-off required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36792" y="5596128"/>
            <a:ext cx="5212080" cy="438912"/>
          </a:xfrm>
          <a:prstGeom prst="roundRect">
            <a:avLst>
              <a:gd name="adj" fmla="val 12500"/>
            </a:avLst>
          </a:prstGeom>
          <a:solidFill>
            <a:srgbClr val="FFF8E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73952" y="559612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C1b this week. Start Legal scoping on C1a in parallel. Same camera UX can reuse on DL / Aadhaar / Permit / Fitness — not added to 180.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3 / 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SUPPLY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airport is a compounding economics problem, not a headcount problem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pain sits (unfulfilled volume)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78308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172200" y="1481328"/>
            <a:ext cx="5532120" cy="35204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27648" y="157276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monthly payout estimate (₹k/month) at ₹35.4/leg</a:t>
            </a:r>
            <a:endParaRPr lang="en-US" sz="9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263640" y="178308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008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demand unfulfilled vs ~3% elsewhere</a:t>
            </a:r>
            <a:endParaRPr lang="en-US" sz="920" dirty="0"/>
          </a:p>
        </p:txBody>
      </p:sp>
      <p:sp>
        <p:nvSpPr>
          <p:cNvPr id="13" name="Shape 9"/>
          <p:cNvSpPr/>
          <p:nvPr/>
        </p:nvSpPr>
        <p:spPr>
          <a:xfrm>
            <a:off x="420624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34340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night gap sits in 21:00–03:59 — only ~13 captains vs ~37 by day</a:t>
            </a:r>
            <a:endParaRPr lang="en-US" sz="920" dirty="0"/>
          </a:p>
        </p:txBody>
      </p:sp>
      <p:sp>
        <p:nvSpPr>
          <p:cNvPr id="16" name="Shape 12"/>
          <p:cNvSpPr/>
          <p:nvPr/>
        </p:nvSpPr>
        <p:spPr>
          <a:xfrm>
            <a:off x="7909560" y="5138928"/>
            <a:ext cx="3547872" cy="1298448"/>
          </a:xfrm>
          <a:prstGeom prst="roundRect">
            <a:avLst>
              <a:gd name="adj" fmla="val 4930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046720" y="5230368"/>
            <a:ext cx="3273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₹35.4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8046720" y="5687568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eligible leg = derived ARA payout (not 30% of fare = ₹105)</a:t>
            </a:r>
            <a:endParaRPr lang="en-US" sz="92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4 / 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DOESN'T WORK — AND HOW EASY IT IS TO BE FOOLED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campaign with 0pp lift, and a gap we must not bank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4406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4475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CAMP_WA_002 — WhatsApp campaign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29% vs 11% headline is targeting, not effect.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" y="2121408"/>
          <a:ext cx="52120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85800" y="4617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comparison: clicked vs not-clicked (delivered only) = −1.5pp; 95% CI [−3.6, +0.6]. That is 0pp lift. Do not fund 5×.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1663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recipients also got another campaign — confounding further inflated.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172200" y="1325880"/>
            <a:ext cx="55321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F0E0A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4447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vs. self-serve gap — do not double-count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63640" y="2039112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73952" y="19659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ceiling if app/paid converted like field: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128–256 additional/month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6263640" y="2642616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73952" y="25694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field teams recruit in person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cannot separate who they recruit from how they onboard</a:t>
            </a:r>
            <a:endParaRPr lang="en-US" sz="102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73952" y="317296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726 of the C1a RC group are the same self-serve captains this gap already counts —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add 180 + 128–256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6263640" y="3849624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73952" y="37764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 abandonment after Fitness: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vs paid 43% — in-person assist, not WhatsApp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6263640" y="4453128"/>
            <a:ext cx="118872" cy="11887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473952" y="43799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</a:t>
            </a:r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 on app/paid signups (~900 per arm to detect a 5pp lift)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502920" y="5596128"/>
            <a:ext cx="11201400" cy="822960"/>
          </a:xfrm>
          <a:prstGeom prst="roundRect">
            <a:avLst>
              <a:gd name="adj" fmla="val 7778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13232" y="5596128"/>
            <a:ext cx="10744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move:  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Send/no-send RCT on RC-cleared self-serve captains, excl. overlap.  </a:t>
            </a:r>
            <a:pPr indent="0" marL="0">
              <a:lnSpc>
                <a:spcPct val="115000"/>
              </a:lnSpc>
              <a:buNone/>
            </a:pPr>
            <a:r>
              <a:rPr lang="en-US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Randomised assisted-onboarding pilot</a:t>
            </a:r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app/paid signups (~900/arm to detect a 5pp lift).</a:t>
            </a:r>
            <a:endParaRPr lang="en-US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5 /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DECISION POINTS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by monthly impact. The campaign call is the fastest yes.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82496"/>
            <a:ext cx="384048" cy="38404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4475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10-day RC in-person grace window</a:t>
            </a:r>
            <a:endParaRPr lang="en-US" sz="10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Insurance upload UX (ship this week)</a:t>
            </a:r>
            <a:endParaRPr lang="en-US" sz="108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44475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~180/mo approved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75320" y="144475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C1a: Legal + T&amp;S sign-off</a:t>
            </a:r>
            <a:endParaRPr lang="en-US" sz="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C1b: engineering only, no sign-off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44475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split by cohort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2779776"/>
            <a:ext cx="384048" cy="384048"/>
          </a:xfrm>
          <a:prstGeom prst="ellipse">
            <a:avLst/>
          </a:prstGeom>
          <a:solidFill>
            <a:srgbClr val="FFC4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54203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Return Assurance at ₹35.4/leg (derived payout — not 30% of fare)</a:t>
            </a:r>
            <a:endParaRPr lang="en-US" sz="108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54203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FFC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₹69k–103k/mo payout; night gap closed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trips ≠ city P&amp;L. Rest-suburban only.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78440" y="254203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Return-in-20min, cancel rate, 4-wk payout run-rate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02920" y="3584448"/>
            <a:ext cx="11201400" cy="987552"/>
          </a:xfrm>
          <a:prstGeom prst="roundRect">
            <a:avLst>
              <a:gd name="adj" fmla="val 7407"/>
            </a:avLst>
          </a:prstGeom>
          <a:solidFill>
            <a:srgbClr val="1E2761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3877056"/>
            <a:ext cx="384048" cy="384048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639312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CAMP_WA_002 5× scaling; run send/no-send RCT on RC-cleared self-serve captains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39312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avoided + causal answer in 4–6 weeks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639312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zero — a redirection, not new spend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378440" y="3639312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Aadhaar-pass, approved (ITT)</a:t>
            </a:r>
            <a:endParaRPr lang="en-US" sz="820" dirty="0"/>
          </a:p>
        </p:txBody>
      </p:sp>
      <p:sp>
        <p:nvSpPr>
          <p:cNvPr id="25" name="Text 23"/>
          <p:cNvSpPr txBox="1"/>
          <p:nvPr/>
        </p:nvSpPr>
        <p:spPr>
          <a:xfrm>
            <a:off x="2240280" y="12618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12618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IMPACT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12618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RISK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10378440" y="1261872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754880"/>
            <a:ext cx="11201400" cy="987552"/>
          </a:xfrm>
          <a:prstGeom prst="roundRect">
            <a:avLst>
              <a:gd name="adj" fmla="val 6481"/>
            </a:avLst>
          </a:prstGeom>
          <a:solidFill>
            <a:srgbClr val="F9616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4754880"/>
            <a:ext cx="106984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the room: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Ship Insurance capture UX — no need to wait.   (2) Legal scoping on RC deferral, this week.   (3) Kill the 5× WhatsApp paper; stand up the RCT.   (4) Four-week ARA pilot at the derived ₹35.4, not 30% of fare.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Rapido Supply  ·  Captain Onboarding &amp; Airport Supply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48095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Ramanathan K R   ·   Rapido Data Science Assessment     6 / 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2026-09-10T17:56:47Z</dcterms:created>
  <dcterms:modified xsi:type="dcterms:W3CDTF">2026-09-10T17:56:47Z</dcterms:modified>
</cp:coreProperties>
</file>